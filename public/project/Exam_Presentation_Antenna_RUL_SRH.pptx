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rh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1480"/>
            <a:ext cx="82769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91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DoE-Based Remaining Useful Life Prediction</a:t>
            </a:r>
          </a:p>
          <a:p>
            <a:pPr>
              <a:spcBef>
                <a:spcPts val="1400"/>
              </a:spcBef>
              <a:defRPr sz="2400">
                <a:solidFill>
                  <a:srgbClr val="FDD9C9"/>
                </a:solidFill>
                <a:latin typeface="Calibri"/>
              </a:defRPr>
            </a:pPr>
            <a:r>
              <a:t>5G/6G Telecom Tower Antenna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2DCE6"/>
                </a:solidFill>
                <a:latin typeface="Calibri"/>
              </a:defRPr>
            </a:pPr>
            <a:r>
              <a:t>Modeling, Simulation &amp; Digital Twin</a:t>
            </a:r>
          </a:p>
          <a:p>
            <a:pPr>
              <a:spcAft>
                <a:spcPts val="600"/>
              </a:spcAft>
              <a:defRPr sz="1500">
                <a:solidFill>
                  <a:srgbClr val="D2DCE6"/>
                </a:solidFill>
                <a:latin typeface="Calibri"/>
              </a:defRPr>
            </a:pPr>
            <a:r>
              <a:t>Prof. Dr. Adele Nasti</a:t>
            </a:r>
          </a:p>
          <a:p>
            <a:pPr>
              <a:spcAft>
                <a:spcPts val="600"/>
              </a:spcAft>
              <a:defRPr sz="1500">
                <a:solidFill>
                  <a:srgbClr val="D2DCE6"/>
                </a:solidFill>
                <a:latin typeface="Calibri"/>
              </a:defRPr>
            </a:pPr>
            <a:r>
              <a:t>Srivardhan Varma Mudunuri  ·  Matric. 100001259</a:t>
            </a:r>
          </a:p>
          <a:p>
            <a:pPr>
              <a:spcAft>
                <a:spcPts val="600"/>
              </a:spcAft>
              <a:defRPr sz="1500">
                <a:solidFill>
                  <a:srgbClr val="D2DCE6"/>
                </a:solidFill>
                <a:latin typeface="Calibri"/>
              </a:defRPr>
            </a:pPr>
            <a:r>
              <a:t>Final Exam · 10–15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44768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Srivardhan Varma Mudunuri  ·  Matric. 100001259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1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Predictive maintenance for 5G/6G telecom towers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Tower failures cause outages and revenue loss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Climber inspections are costly, slow, and risky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Drone 2D→3D scan gives geometry — but geometry alone is NOT a digital twin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Goal: predict Remaining Useful Life (RUL) from wind +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2 · Digital Twin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Digital representation throughout its lifecycle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NOT a static CAD copy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Stages: Design → Manufacture → Build → Test → Service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Twin does NOT replace experimental testing</a:t>
            </a:r>
          </a:p>
        </p:txBody>
      </p:sp>
      <p:pic>
        <p:nvPicPr>
          <p:cNvPr id="7" name="Picture 6" descr="viz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669280" cy="2421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3 · End-to-End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Drone geometry + physics RUL + Design of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z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10820095" cy="38981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79592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  <a:latin typeface="Calibri"/>
              </a:defRPr>
            </a:pPr>
            <a:r>
              <a:t>Pipeline extends real industrial drone inspection into predictive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4 · Physics-Based RUL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Wind fatigue × thermal 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RUL (days) = 175,200 / (f_wind × f_temp × 24)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f_wind(v) = (v / 5)^1.6        f_temp(T) = 2^((T − 20) / 15)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Verification sanity checks: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   •  5 m/s, 20 °C  →  ~20 years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   • 15 m/s, 35 °C  →  ~1.7 years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   • 35 m/s, 65 °C  →  ~41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5 · Design of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Full factorial — same workflow as HEEDS Example 5 (Coil Spring)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Factor A: Wind speed — 4 levels [5, 15, 25, 35] m/s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Factor B: Temperature — 10 levels [20…65] °C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Design: 4 × 10 = 40 simulation runs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HEEDS workflow: Process → Parameters → Tagging → Study → Run → 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6 · DoE Results — Design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40-run factorial heatmap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do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473" y="1417320"/>
            <a:ext cx="6858747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79592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  <a:latin typeface="Calibri"/>
              </a:defRPr>
            </a:pPr>
            <a:r>
              <a:t>RUL (years) across wind ×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7 · RUL vs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Separate curve for each wind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ru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81" y="1417320"/>
            <a:ext cx="7960131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79592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  <a:latin typeface="Calibri"/>
              </a:defRPr>
            </a:pPr>
            <a:r>
              <a:t>Higher wind collapses remaining life — dominant degradation driver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8 · Sensitivity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Pareto ranking of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pareto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81" y="1417320"/>
            <a:ext cx="7960131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79592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  <a:latin typeface="Calibri"/>
              </a:defRPr>
            </a:pPr>
            <a:r>
              <a:t>Wind impact ≈ 3.5×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9 · Operating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Safe operating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operating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308" y="1417320"/>
            <a:ext cx="6757077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79592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  <a:latin typeface="Calibri"/>
              </a:defRPr>
            </a:pPr>
            <a:r>
              <a:t>Safe ops: wind ≤ 12 m/s and temp ≤ 30 °C → RUL &gt; 10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 · HEEDS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Coil Spring DoE ≡ Antenna factorial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z_heed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02" y="1417320"/>
            <a:ext cx="10428889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11 · 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Predictive maintenance value · TRL 4–5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z_key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10820095" cy="38981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12 · Verification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Verification — maths right?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Sanity checks at anchor points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Validation — right maths?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Compare RUL vs field failures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Calibration ≠ validation</a:t>
            </a:r>
          </a:p>
        </p:txBody>
      </p:sp>
      <p:pic>
        <p:nvPicPr>
          <p:cNvPr id="7" name="Picture 6" descr="viz_v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669280" cy="30546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13 · Live Demo &amp;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DD9C9"/>
                </a:solidFill>
                <a:latin typeface="Calibri"/>
              </a:defRPr>
            </a:pPr>
            <a:r>
              <a:t>Reproducible Python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Run: python project/run_project.py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Notebook: DigitalTwin_Antenna_RUL.ipynb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Value: fewer outages, safer crews, data-driven maintenance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Creative: telecom-specific RUL physics + DoE envelope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rh_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113157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116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14 ·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1. AIAA (2020). Digital Twin: Definition &amp; Value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2. Grieves &amp; Vickers (2017). Digital Twin: Mitigating Unpredictable Behavior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3. Tao et al. (2019). Digital Twin in Industry. IEEE TII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4. Montgomery (2017). Design and Analysis of Experiments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5. Liu et al. (2021). UAV photogrammetry for telecom towers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6. Kapteyn et al. (2021). Predictive digital twins. Nature Comp Sci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7. Siemens (2024). HEEDS Multi-Disciplinary Design Exploration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SRH University  ·  Prof. Dr. Adele Nasti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4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rh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1480"/>
            <a:ext cx="768569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56032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>
              <a:spcBef>
                <a:spcPts val="1200"/>
              </a:spcBef>
              <a:defRPr sz="2200">
                <a:solidFill>
                  <a:srgbClr val="FDD9C9"/>
                </a:solidFill>
                <a:latin typeface="Calibri"/>
              </a:defRPr>
            </a:pPr>
            <a: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