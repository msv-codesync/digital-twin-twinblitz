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_anten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rh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20040"/>
            <a:ext cx="768569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2194560"/>
            <a:ext cx="6858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DoE-Based Remaining Useful Life Prediction</a:t>
            </a:r>
          </a:p>
          <a:p>
            <a:pPr>
              <a:spcBef>
                <a:spcPts val="800"/>
              </a:spcBef>
              <a:defRPr sz="2200">
                <a:solidFill>
                  <a:srgbClr val="FFFFFF"/>
                </a:solidFill>
                <a:latin typeface="Calibri"/>
              </a:defRPr>
            </a:pPr>
            <a:r>
              <a:t>5G/6G Telecom Tower Antenna Digital Twin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_01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rh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20040"/>
            <a:ext cx="65032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320040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2D2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Predictive maintenance for telecom infrastructure</a:t>
            </a:r>
          </a:p>
        </p:txBody>
      </p:sp>
      <p:pic>
        <p:nvPicPr>
          <p:cNvPr id="6" name="Picture 5" descr="viz_pro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11155680" cy="47558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_01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rh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20040"/>
            <a:ext cx="65032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320040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2D2D"/>
                </a:solidFill>
                <a:latin typeface="Calibri"/>
              </a:defRPr>
            </a:pPr>
            <a:r>
              <a:t>Digital Twin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"Digital representation throughout its lifecycle — does NOT replace testing"</a:t>
            </a:r>
          </a:p>
        </p:txBody>
      </p:sp>
      <p:pic>
        <p:nvPicPr>
          <p:cNvPr id="6" name="Picture 5" descr="viz_life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11155680" cy="51492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_01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rh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20040"/>
            <a:ext cx="65032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320040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2D2D"/>
                </a:solidFill>
                <a:latin typeface="Calibri"/>
              </a:defRPr>
            </a:pPr>
            <a:r>
              <a:t>End-to-End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Drone geometry + physics-based RUL + DoE</a:t>
            </a:r>
          </a:p>
        </p:txBody>
      </p:sp>
      <p:pic>
        <p:nvPicPr>
          <p:cNvPr id="6" name="Picture 5" descr="viz_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11155680" cy="38516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_01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rh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20040"/>
            <a:ext cx="65032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320040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2D2D"/>
                </a:solidFill>
                <a:latin typeface="Calibri"/>
              </a:defRPr>
            </a:pPr>
            <a:r>
              <a:t>Physics-Based RUL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Wind fatigue × thermal aging</a:t>
            </a:r>
          </a:p>
        </p:txBody>
      </p:sp>
      <p:pic>
        <p:nvPicPr>
          <p:cNvPr id="6" name="Picture 5" descr="viz_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11155680" cy="56866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_01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rh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20040"/>
            <a:ext cx="65032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pic>
        <p:nvPicPr>
          <p:cNvPr id="4" name="Picture 3" descr="05_do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11430000" cy="73144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2004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2D2D"/>
                </a:solidFill>
                <a:latin typeface="Calibri"/>
              </a:defRPr>
            </a:pPr>
            <a:r>
              <a:t>Full factorial DoE — 4 wind × 10 temp = 40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pic>
        <p:nvPicPr>
          <p:cNvPr id="4" name="Picture 3" descr="01_rul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11430000" cy="63023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2004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2D2D"/>
                </a:solidFill>
                <a:latin typeface="Calibri"/>
              </a:defRPr>
            </a:pPr>
            <a:r>
              <a:t>RUL vs temperature at each wind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pic>
        <p:nvPicPr>
          <p:cNvPr id="4" name="Picture 3" descr="03_pareto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11430000" cy="63023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2004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2D2D"/>
                </a:solidFill>
                <a:latin typeface="Calibri"/>
              </a:defRPr>
            </a:pPr>
            <a:r>
              <a:t>Sensitivity — wind dominates ~3.5× 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pic>
        <p:nvPicPr>
          <p:cNvPr id="4" name="Picture 3" descr="02_response_surfa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11430000" cy="91049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2004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2D2D"/>
                </a:solidFill>
                <a:latin typeface="Calibri"/>
              </a:defRPr>
            </a:pPr>
            <a:r>
              <a:t>DoE response surface across design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pic>
        <p:nvPicPr>
          <p:cNvPr id="4" name="Picture 3" descr="04_operating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11430000" cy="7424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2004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2D2D"/>
                </a:solidFill>
                <a:latin typeface="Calibri"/>
              </a:defRPr>
            </a:pPr>
            <a:r>
              <a:t>Operating envelope — safe: wind ≤12 m/s, temp ≤30°C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_01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rh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20040"/>
            <a:ext cx="65032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320040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2D2D"/>
                </a:solidFill>
                <a:latin typeface="Calibri"/>
              </a:defRPr>
            </a:pPr>
            <a:r>
              <a:t>HEEDS Workflow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Example 4 Coil Spring DoE ≡ Antenna factorial</a:t>
            </a:r>
          </a:p>
        </p:txBody>
      </p:sp>
      <p:pic>
        <p:nvPicPr>
          <p:cNvPr id="6" name="Picture 5" descr="viz_heeds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11155680" cy="52020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_01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rh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20040"/>
            <a:ext cx="65032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320040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2D2D"/>
                </a:solidFill>
                <a:latin typeface="Calibri"/>
              </a:defRPr>
            </a:pPr>
            <a:r>
              <a:t>Key Results &amp; 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Predictive maintenance · TRL 4–5</a:t>
            </a:r>
          </a:p>
        </p:txBody>
      </p:sp>
      <p:pic>
        <p:nvPicPr>
          <p:cNvPr id="6" name="Picture 5" descr="viz_key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11155680" cy="38516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_01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rh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20040"/>
            <a:ext cx="650328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320040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2D2D"/>
                </a:solidFill>
                <a:latin typeface="Calibri"/>
              </a:defRPr>
            </a:pPr>
            <a:r>
              <a:t>Verification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Sanity checks + future field correlation</a:t>
            </a:r>
          </a:p>
        </p:txBody>
      </p:sp>
      <p:pic>
        <p:nvPicPr>
          <p:cNvPr id="6" name="Picture 5" descr="viz_v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11155680" cy="42978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rh_logo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56032"/>
            <a:ext cx="86410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365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2D2D"/>
                </a:solidFill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1. AIAA (2020). Digital Twin: Definition &amp; Value</a:t>
            </a:r>
          </a:p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2. Grieves &amp; Vickers (2017). Digital Twin: Mitigating Unpredictable Behavior</a:t>
            </a:r>
          </a:p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3. Tao et al. (2019). Digital Twin in Industry. IEEE TII</a:t>
            </a:r>
          </a:p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4. Montgomery (2017). Design and Analysis of Experiments</a:t>
            </a:r>
          </a:p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5. Jardine et al. (2006). Machinery diagnostics review</a:t>
            </a:r>
          </a:p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6. Liu et al. (2021). UAV photogrammetry for telecom towers</a:t>
            </a:r>
          </a:p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7. Kapteyn et al. (2021). Predictive digital twins. Nature Comp Sci</a:t>
            </a:r>
          </a:p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8. ISO/IEC 30173:2023 — Digital twin terminology</a:t>
            </a:r>
          </a:p>
          <a:p>
            <a:pPr>
              <a:spcAft>
                <a:spcPts val="6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9. Siemens (2024). HEEDS Multi-Disciplinary Design 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  <a:latin typeface="Calibri"/>
              </a:defRPr>
            </a:pPr>
            <a:r>
              <a:t>SRH University  ·  Prof. Dr. Adele Nasti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_anten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rh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20040"/>
            <a:ext cx="650328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  <a:p>
            <a:pPr>
              <a:defRPr sz="2000">
                <a:solidFill>
                  <a:srgbClr val="FFFFFF"/>
                </a:solidFill>
                <a:latin typeface="Calibri"/>
              </a:defRPr>
            </a:pPr>
            <a:r>
              <a:t>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