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DoE-Based Remaining Useful Life Prediction</a:t>
            </a:r>
          </a:p>
          <a:p>
            <a:pPr>
              <a:spcBef>
                <a:spcPts val="1200"/>
              </a:spcBef>
              <a:defRPr sz="2400">
                <a:solidFill>
                  <a:srgbClr val="00B5D8"/>
                </a:solidFill>
              </a:defRPr>
            </a:pPr>
            <a:r>
              <a:t>5G/6G Telecom Tower Antenna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8D2DC"/>
                </a:solidFill>
              </a:defRPr>
            </a:pPr>
            <a:r>
              <a:t>Modeling, Simulation &amp; Digital Twin</a:t>
            </a:r>
          </a:p>
          <a:p>
            <a:pPr>
              <a:spcAft>
                <a:spcPts val="400"/>
              </a:spcAft>
              <a:defRPr sz="1400">
                <a:solidFill>
                  <a:srgbClr val="C8D2DC"/>
                </a:solidFill>
              </a:defRPr>
            </a:pPr>
            <a:r>
              <a:t>Prof. Dr. Adele Nasti</a:t>
            </a:r>
          </a:p>
          <a:p>
            <a:pPr>
              <a:spcAft>
                <a:spcPts val="400"/>
              </a:spcAft>
              <a:defRPr sz="1400">
                <a:solidFill>
                  <a:srgbClr val="C8D2DC"/>
                </a:solidFill>
              </a:defRPr>
            </a:pPr>
            <a:r>
              <a:t>Srivardhan Varma Mudunuri · Matric. 100001259</a:t>
            </a:r>
          </a:p>
          <a:p>
            <a:pPr>
              <a:spcAft>
                <a:spcPts val="400"/>
              </a:spcAft>
              <a:defRPr sz="1400">
                <a:solidFill>
                  <a:srgbClr val="C8D2DC"/>
                </a:solidFill>
              </a:defRPr>
            </a:pPr>
            <a:r>
              <a:t>Final Exam Presentation · 10–15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E7C7B"/>
                </a:solidFill>
              </a:defRPr>
            </a:pPr>
            <a:r>
              <a:t>Investor pitch: reduce outages, defer site visits, plan maintenance proactively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• Telecom operators lose revenue when 5G/6G antenna towers fail unexpectedly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• Traditional maintenance: periodic climber inspections — costly, risky, reactive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• Industrial context: drone 2D→3D photogrammetry pipeline (USA client, ≈€220K)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• Gap: geometry alone is NOT a digital twin — we need predictive as-used prognostics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• Objective: predict Remaining Useful Life (RUL) under wind + temperature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Digital Twin — Course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• "Digital representation of a physical product throughout its lifecycle"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• NOT a static CAD copy — spans Design → Manufacture → Build → Test → Service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• Our twin stages (AIAA):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   – As-designed: nominal antenna specifications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   – As-built: drone photogrammetry geometry + QC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   – As-used: physics-based RUL model fed by environmental sensors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• Twin does NOT replace experimental testing — it de-risks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Approach &amp; Software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1. Physics-based degradation model (wind fatigue + thermal aging)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2. Full-factorial Design of Experiments — 4×10 = 40 runs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3. Sensitivity analysis + Pareto ranking of factors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4. Response surface + operating envelope recommendation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5. Python implementation (replicates HEEDS MDO workflow)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Software: Python (NumPy, Pandas, Matplotlib) + HEEDS methodology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Validation path: compare RUL trends with field inspection data (future work)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RUL Physics Model — WHY these equations?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RUL (days) = 175,200 / (f_wind × f_temp × 24)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f_wind(v) = (v/5)^1.6  — drag-fatigue scaling (structural reliability)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f_temp(T) = 2^((T−20)/15)  — Arrhenius thermal aging (electronics)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WHY physics-based: interpretable, extrapolatable within bounds, calibratable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Verification: sanity checks — (5m/s,20°C)≈20yr; (35m/s,65°C)≈41 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Design of Experiments (DoE)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Factor A: Wind speed — 4 levels [5, 15, 25, 35] m/s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Factor B: Temperature — 10 levels [20…65] °C in 5°C steps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Design: Full factorial → 40 simulation runs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WHY full factorial: cheap analytical model; captures interaction for surface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Same workflow as HEEDS Example 4 (Coil Spring DoE)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Process → Parameters → Tagging → Study (DOE) → Run → POST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DoE Results — Design Space Heatmap</a:t>
            </a:r>
          </a:p>
        </p:txBody>
      </p:sp>
      <p:pic>
        <p:nvPicPr>
          <p:cNvPr id="4" name="Picture 3" descr="05_do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51493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E"/>
                </a:solidFill>
              </a:defRPr>
            </a:pPr>
            <a:r>
              <a:t>40-run factorial: RUL (years) across wind × temperature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RUL vs Temperature (by Wind Level)</a:t>
            </a:r>
          </a:p>
        </p:txBody>
      </p:sp>
      <p:pic>
        <p:nvPicPr>
          <p:cNvPr id="4" name="Picture 3" descr="01_ru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44368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E"/>
                </a:solidFill>
              </a:defRPr>
            </a:pPr>
            <a:r>
              <a:t>Higher wind collapses RUL curves — dominant degradation driver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8. Sensitivity &amp; Pareto — Key Finding</a:t>
            </a:r>
          </a:p>
        </p:txBody>
      </p:sp>
      <p:pic>
        <p:nvPicPr>
          <p:cNvPr id="4" name="Picture 3" descr="03_pareto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44368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E"/>
                </a:solidFill>
              </a:defRPr>
            </a:pPr>
            <a:r>
              <a:t>Wind speed impact ≈ 3.5× temperature — counterintuitive for RF engineers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9. Response Surface (DoE POST)</a:t>
            </a:r>
          </a:p>
        </p:txBody>
      </p:sp>
      <p:pic>
        <p:nvPicPr>
          <p:cNvPr id="4" name="Picture 3" descr="02_response_surface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6409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E"/>
                </a:solidFill>
              </a:defRPr>
            </a:pPr>
            <a:r>
              <a:t>3D surface — equivalent to HEEDS POST visualization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10. Operating Envelope Recommendation</a:t>
            </a:r>
          </a:p>
        </p:txBody>
      </p:sp>
      <p:pic>
        <p:nvPicPr>
          <p:cNvPr id="4" name="Picture 3" descr="04_operating_envel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52268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E"/>
                </a:solidFill>
              </a:defRPr>
            </a:pPr>
            <a:r>
              <a:t>Safe ops: wind ≤ 12 m/s, temp ≤ 30°C → RUL &gt; 10 years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11. Verification vs Validation (This Project)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Verification — 'Have I done the maths right?'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   • Sanity checks at anchor points; unit consistency; monotonic trends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Validation — 'Have I done the right maths?'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   • Compare predicted RUL ranking with field failure reports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   • Future: correlate with Simcenter FEA fatigue at hotspots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Calibration: tune exponent 1.6 and Arrhenius slope using failure data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TRL 4–5: component validated in lab/relevant environment; not fleet-deployed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12. HEEDS Mapping &amp;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HEEDS Example 4 (Coil Spring) → Antenna RUL: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   • Input tags: wind_ms, temp_C  (like coil_diam, wire_diam)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   • Output tags: rul_days, rul_years  (like deflection, stress)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   • Study type: DOE — NOT optimization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Live demo: python project/run_project.py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   → prints verification, DoE table, Pareto ratio, exports figures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Jupyter notebook: DigitalTwin_Antenna_RUL.ipynb (full reproducibility)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13. Value Proposition &amp; Creativity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• Extends real €220K drone inspection into predictive maintenance twin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• Creative contribution: telecom-specific RUL physics + DoE envelope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• Pugh matrix winner vs climber-only / geometry-only approaches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• FMEA: wind fatigue failure mode → digital twin monitoring layer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• Business impact: fewer outages, safer crews, data-driven maintenance windows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14.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1. AIAA (2020). Digital Twin: Definition &amp; Value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2. Grieves &amp; Vickers (2017). Digital Twin: Mitigating Unpredictable Behavior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3. Tao et al. (2019). Digital Twin in Industry. IEEE TII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4. Montgomery (2017). Design and Analysis of Experiments. Wiley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5. Jardine et al. (2006). Machinery diagnostics review. MSSP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6. Liu et al. (2021). UAV photogrammetry for telecom towers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7. Kapteyn et al. (2021). Predictive digital twins. Nature Comp Sci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8. ISO/IEC 30173:2023 — Digital twin terminology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9. Siemens (2024). HEEDS Multi-Disciplinary Design Exploration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15. Thank You — Q&amp;A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Memorise for oral: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• DT definition with 'throughout its lifecycle'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• V vs V vs calibration — one example each from antenna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• Model coupling: structural + thermal + wind + RUL interdependent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• Extrapolation risk beyond 35 m/s or 65°C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• PCA 6 steps · P-diagram centre: maintain structural integrity</a:t>
            </a: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E1E28"/>
                </a:solidFill>
              </a:defRPr>
            </a:pPr>
            <a: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